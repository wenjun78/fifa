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2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913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8869680" y="338328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AI INNOVATION SHOWCASE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RefVision</a:t>
            </a:r>
            <a:endParaRPr lang="en-US" sz="6800" dirty="0"/>
          </a:p>
        </p:txBody>
      </p:sp>
      <p:sp>
        <p:nvSpPr>
          <p:cNvPr id="5" name="Text 2"/>
          <p:cNvSpPr/>
          <p:nvPr/>
        </p:nvSpPr>
        <p:spPr>
          <a:xfrm>
            <a:off x="64008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Officiating Console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3310128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Pose-only referee decision-support for football. Mark the point of contact; it grades the challenge and lays its read beside the referee's on-field call.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5074920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1755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" y="5074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github.com/wenjun78/FIFA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080" y="5687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CPU-only  ·  No GPU  ·  On-device  ·  Human-in-the-loop</a:t>
            </a:r>
            <a:endParaRPr lang="en-US" sz="105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025054CA-778F-D12F-3B3D-A1EDACE04531}"/>
              </a:ext>
            </a:extLst>
          </p:cNvPr>
          <p:cNvSpPr/>
          <p:nvPr/>
        </p:nvSpPr>
        <p:spPr>
          <a:xfrm>
            <a:off x="64008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9EE"/>
                </a:solidFill>
                <a:latin typeface="Arial" pitchFamily="34" charset="0"/>
                <a:cs typeface="Arial" pitchFamily="34" charset="-120"/>
              </a:rPr>
              <a:t>Lau Wen Jun (wlau14)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Split-second calls, little support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11296" cy="3200400"/>
          </a:xfrm>
          <a:prstGeom prst="roundRect">
            <a:avLst>
              <a:gd name="adj" fmla="val 2857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2651760"/>
            <a:ext cx="676656" cy="676656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907" y="2827691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352044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judgement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0976" y="406908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Referees rule on contact, speed and intent in a fraction of a second — often from one angle.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43984" y="2286000"/>
            <a:ext cx="3511296" cy="3200400"/>
          </a:xfrm>
          <a:prstGeom prst="roundRect">
            <a:avLst>
              <a:gd name="adj" fmla="val 2857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2651760"/>
            <a:ext cx="676656" cy="676656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0811" y="2827691"/>
            <a:ext cx="324795" cy="3247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52044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is heavy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54880" y="406908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rigs, dedicated operators and cost keep full review out of reach for most matches.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47888" y="2286000"/>
            <a:ext cx="3511296" cy="3200400"/>
          </a:xfrm>
          <a:prstGeom prst="roundRect">
            <a:avLst>
              <a:gd name="adj" fmla="val 2857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558784" y="2651760"/>
            <a:ext cx="676656" cy="676656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4715" y="2827691"/>
            <a:ext cx="324795" cy="3247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58784" y="352044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get contested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58784" y="406908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transparent evidence, marginal decisions are hard to explain and harder to defend.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Decision-support that runs on a laptop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RefVision reads body pose from a single clip and finds the moment of contact. The official marks the exact point; it grades the challenge from measurable evidence and shows its read beside the referee's on-field call — never overruling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CPU-only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94560" y="4754880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94560" y="47548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GPU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5285232"/>
            <a:ext cx="2788920" cy="420624"/>
          </a:xfrm>
          <a:prstGeom prst="roundRect">
            <a:avLst>
              <a:gd name="adj" fmla="val 5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528523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external model APIs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11880" y="5285232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11880" y="528523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2011680"/>
            <a:ext cx="2377440" cy="1481328"/>
          </a:xfrm>
          <a:prstGeom prst="roundRect">
            <a:avLst>
              <a:gd name="adj" fmla="val 6173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59752" y="2267712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398" y="2410358"/>
            <a:ext cx="263347" cy="26334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23176" y="292608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contact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9500616" y="2011680"/>
            <a:ext cx="2377440" cy="1481328"/>
          </a:xfrm>
          <a:prstGeom prst="roundRect">
            <a:avLst>
              <a:gd name="adj" fmla="val 6173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756648" y="2267712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294" y="2410358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720072" y="292608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point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6903720" y="3712464"/>
            <a:ext cx="2377440" cy="1481328"/>
          </a:xfrm>
          <a:prstGeom prst="roundRect">
            <a:avLst>
              <a:gd name="adj" fmla="val 6173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7159752" y="3968496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398" y="4111142"/>
            <a:ext cx="263347" cy="26334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23176" y="462686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it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9500616" y="3712464"/>
            <a:ext cx="2377440" cy="1481328"/>
          </a:xfrm>
          <a:prstGeom prst="roundRect">
            <a:avLst>
              <a:gd name="adj" fmla="val 6173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756648" y="3968496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9294" y="4111142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720072" y="462686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to call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contact. Get the call.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806440" cy="3466744"/>
          </a:xfrm>
          <a:prstGeom prst="roundRect">
            <a:avLst>
              <a:gd name="adj" fmla="val 3693"/>
            </a:avLst>
          </a:prstGeom>
          <a:solidFill>
            <a:srgbClr val="14201F"/>
          </a:solidFill>
          <a:ln w="19050">
            <a:solidFill>
              <a:srgbClr val="4FD9EE"/>
            </a:solidFill>
            <a:prstDash val="solid"/>
          </a:ln>
          <a:effectLst>
            <a:outerShdw blurRad="203200" dist="50800" dir="16200000" algn="bl" rotWithShape="0">
              <a:srgbClr val="4FD9EE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57400"/>
            <a:ext cx="5806440" cy="3466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2148840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086" y="22914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62672" y="2121408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point of contact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662672" y="2478024"/>
            <a:ext cx="38889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on the frozen frame — the marker snaps there.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949440" y="3090672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2086" y="3233318"/>
            <a:ext cx="263347" cy="2633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62672" y="3063240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±n replay window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662672" y="3419856"/>
            <a:ext cx="38889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slow-mo to show around the contact.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949440" y="4032504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2086" y="4175150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62672" y="4005072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7662672" y="4361688"/>
            <a:ext cx="38889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is graded at the point you marked.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949440" y="4974336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2086" y="5116982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662672" y="4946904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call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7662672" y="5303520"/>
            <a:ext cx="38889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 the referee's signal, with the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 · LIVE FROM THE CONSOLE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just flag. It grades.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4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SENDING-OFF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8328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D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38328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km/h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3504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SPEED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0" y="1874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4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STUDS UP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TO OPPONENT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55368" y="2999232"/>
            <a:ext cx="7680960" cy="3241506"/>
          </a:xfrm>
          <a:prstGeom prst="roundRect">
            <a:avLst>
              <a:gd name="adj" fmla="val 3949"/>
            </a:avLst>
          </a:prstGeom>
          <a:solidFill>
            <a:srgbClr val="14201F"/>
          </a:solidFill>
          <a:ln w="19050">
            <a:solidFill>
              <a:srgbClr val="4FD9EE"/>
            </a:solidFill>
            <a:prstDash val="solid"/>
          </a:ln>
          <a:effectLst>
            <a:outerShdw blurRad="203200" dist="50800" dir="16200000" algn="bl" rotWithShape="0">
              <a:srgbClr val="4FD9EE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368" y="2999232"/>
            <a:ext cx="7680960" cy="324150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6368754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slide-tackle graded by the pose engine — the call with its evidence, exactly as the console shows it.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footage to a defensible call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D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920240" y="2057400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2886" y="22000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120640" y="18745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reads body landmarks across the clip; players are separated by shirt colour.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907792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7824" y="29077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D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920240" y="3090672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2886" y="3233318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9077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onset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120640" y="2907792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earliest in-contact frame while both players are upright — the strike, not the collapse.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3941064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77824" y="394106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D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1920240" y="4123944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2886" y="4266590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97480" y="394106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&amp; measure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5120640" y="3941064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clicks the contact; speed, boot elevation, studs and height are read there.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40080" y="4974336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77824" y="497433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D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1920240" y="5157216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2886" y="5299862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697480" y="4974336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5120640" y="4974336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becomes a call — shown against the referee's on-field signal.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measurements, not a black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11296" cy="1755648"/>
          </a:xfrm>
          <a:prstGeom prst="roundRect">
            <a:avLst>
              <a:gd name="adj" fmla="val 5208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" y="23829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58568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speed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89864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to each player's height in frame — km/h without a fixed camera.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43984" y="1965960"/>
            <a:ext cx="3511296" cy="1755648"/>
          </a:xfrm>
          <a:prstGeom prst="roundRect">
            <a:avLst>
              <a:gd name="adj" fmla="val 5208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18304" y="2240280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950" y="23829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4104" y="2258568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elevation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18304" y="289864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raised, airborne lunge — caught even when contact lands low.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47888" y="1965960"/>
            <a:ext cx="3511296" cy="1755648"/>
          </a:xfrm>
          <a:prstGeom prst="roundRect">
            <a:avLst>
              <a:gd name="adj" fmla="val 5208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522208" y="2240280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4854" y="23829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08008" y="2258568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22208" y="289864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orientation toward the opponent.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995928"/>
            <a:ext cx="3511296" cy="1755648"/>
          </a:xfrm>
          <a:prstGeom prst="roundRect">
            <a:avLst>
              <a:gd name="adj" fmla="val 5208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14400" y="4270248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046" y="4412894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28853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height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14400" y="4928616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on the body contact lands — set by the marker.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43984" y="3995928"/>
            <a:ext cx="3511296" cy="1755648"/>
          </a:xfrm>
          <a:prstGeom prst="roundRect">
            <a:avLst>
              <a:gd name="adj" fmla="val 5208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718304" y="4270248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0950" y="4412894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04104" y="428853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718304" y="4928616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hand-on-torso across frames.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247888" y="3995928"/>
            <a:ext cx="3511296" cy="1755648"/>
          </a:xfrm>
          <a:prstGeom prst="roundRect">
            <a:avLst>
              <a:gd name="adj" fmla="val 5208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522208" y="4270248"/>
            <a:ext cx="548640" cy="5486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4854" y="4412894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08008" y="428853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Aerial &amp; simulation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522208" y="4928616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Arm/elbow to the head; dives with no confirmed contact.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tabs: mark it, then decide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0976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50976" y="2532888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&amp; mark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3264408"/>
            <a:ext cx="100584" cy="100584"/>
          </a:xfrm>
          <a:prstGeom prst="ellipse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3584" y="3200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 to the contact frame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3794760"/>
            <a:ext cx="100584" cy="100584"/>
          </a:xfrm>
          <a:prstGeom prst="ellipse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43584" y="3730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frame to place the contact point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05840" y="4325112"/>
            <a:ext cx="100584" cy="100584"/>
          </a:xfrm>
          <a:prstGeom prst="ellipse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43584" y="42611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±n replay window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05840" y="4855464"/>
            <a:ext cx="100584" cy="100584"/>
          </a:xfrm>
          <a:prstGeom prst="ellipse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43584" y="47914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— the challenge is graded there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5080" y="196596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65976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65976" y="2532888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720840" y="3264408"/>
            <a:ext cx="100584" cy="100584"/>
          </a:xfrm>
          <a:prstGeom prst="ellipse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58584" y="3200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±n replay that pauses ~2 s at contact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720840" y="3794760"/>
            <a:ext cx="100584" cy="100584"/>
          </a:xfrm>
          <a:prstGeom prst="ellipse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58584" y="3730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measurements — speed, boot, studs, height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720840" y="4325112"/>
            <a:ext cx="100584" cy="100584"/>
          </a:xfrm>
          <a:prstGeom prst="ellipse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58584" y="42611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call, with confidence and a review flag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720840" y="4855464"/>
            <a:ext cx="100584" cy="100584"/>
          </a:xfrm>
          <a:prstGeom prst="ellipse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58584" y="47914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Laid beside the referee's on-field signal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touchline, not the data centre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76672" cy="1755648"/>
          </a:xfrm>
          <a:prstGeom prst="roundRect">
            <a:avLst>
              <a:gd name="adj" fmla="val 5208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2340864"/>
            <a:ext cx="658368" cy="658368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152" y="2512040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340864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anywhere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0976" y="309067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cloud, no external model APIs — it runs on a standard laptop.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2011680"/>
            <a:ext cx="5376672" cy="1755648"/>
          </a:xfrm>
          <a:prstGeom prst="roundRect">
            <a:avLst>
              <a:gd name="adj" fmla="val 5208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20256" y="2340864"/>
            <a:ext cx="658368" cy="658368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432" y="2512040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340864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0256" y="309067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marks the contact and owns the final call.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059936"/>
            <a:ext cx="5376672" cy="1755648"/>
          </a:xfrm>
          <a:prstGeom prst="roundRect">
            <a:avLst>
              <a:gd name="adj" fmla="val 5208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50976" y="4389120"/>
            <a:ext cx="658368" cy="658368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152" y="456029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389120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50976" y="513892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backed by measurements a referee can read and explain.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4059936"/>
            <a:ext cx="5376672" cy="1755648"/>
          </a:xfrm>
          <a:prstGeom prst="roundRect">
            <a:avLst>
              <a:gd name="adj" fmla="val 5208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20256" y="4389120"/>
            <a:ext cx="658368" cy="658368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1432" y="456029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389120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Support, not automation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20256" y="513892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RefVision measures and compares; the referee decides.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9509760" y="-10972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· THE OFFICIATING GAME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you're the referee.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96596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demo, part game: turn the camera on yourself, make a referee's signal, and RefVision reads your arms, names the decision, and logs it — live, on-device, no cloud, no LLM.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3090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FIVE SIGNALS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341985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22960" y="3593592"/>
            <a:ext cx="118872" cy="118872"/>
          </a:xfrm>
          <a:prstGeom prst="rect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42416" y="34198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828800" y="3419856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011680" y="3593592"/>
            <a:ext cx="118872" cy="118872"/>
          </a:xfrm>
          <a:prstGeom prst="rect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31136" y="34198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37560" y="3419856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520440" y="3593592"/>
            <a:ext cx="118872" cy="118872"/>
          </a:xfrm>
          <a:prstGeom prst="rect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739896" y="34198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968496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22960" y="4142232"/>
            <a:ext cx="118872" cy="118872"/>
          </a:xfrm>
          <a:prstGeom prst="rect">
            <a:avLst/>
          </a:prstGeom>
          <a:solidFill>
            <a:srgbClr val="FFC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42416" y="39684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card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514600" y="3968496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697480" y="4142232"/>
            <a:ext cx="118872" cy="118872"/>
          </a:xfrm>
          <a:prstGeom prst="rect">
            <a:avLst/>
          </a:prstGeom>
          <a:solidFill>
            <a:srgbClr val="FF4D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916936" y="39684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card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4937760"/>
            <a:ext cx="5623560" cy="457200"/>
          </a:xfrm>
          <a:prstGeom prst="roundRect">
            <a:avLst>
              <a:gd name="adj" fmla="val 20000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038344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15568" y="4937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wenjun78.github.io/FIFA/RefVision/docs/refvision.html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583680" y="1874520"/>
            <a:ext cx="4965192" cy="3977640"/>
          </a:xfrm>
          <a:prstGeom prst="roundRect">
            <a:avLst>
              <a:gd name="adj" fmla="val 3218"/>
            </a:avLst>
          </a:prstGeom>
          <a:solidFill>
            <a:srgbClr val="0C171D"/>
          </a:solidFill>
          <a:ln w="19050">
            <a:solidFill>
              <a:srgbClr val="4FD9EE"/>
            </a:solidFill>
            <a:prstDash val="solid"/>
          </a:ln>
          <a:effectLst>
            <a:outerShdw blurRad="203200" dist="50800" dir="16200000" algn="bl" rotWithShape="0">
              <a:srgbClr val="4FD9EE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803136" y="20391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4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907999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 on the referee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8563356" y="2532888"/>
            <a:ext cx="1005840" cy="1005840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4874" y="2794406"/>
            <a:ext cx="482803" cy="48280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583680" y="372160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read from the arms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858000" y="4197096"/>
            <a:ext cx="4416552" cy="0"/>
          </a:xfrm>
          <a:prstGeom prst="line">
            <a:avLst/>
          </a:prstGeom>
          <a:noFill/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858000" y="43068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DECISION LOG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858000" y="4599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88:12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7827264" y="4690872"/>
            <a:ext cx="109728" cy="109728"/>
          </a:xfrm>
          <a:prstGeom prst="rect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8065008" y="459943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6858000" y="4983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64:30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7827264" y="5074920"/>
            <a:ext cx="109728" cy="109728"/>
          </a:xfrm>
          <a:prstGeom prst="rect">
            <a:avLst/>
          </a:prstGeom>
          <a:solidFill>
            <a:srgbClr val="FFC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8065008" y="49834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card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6858000" y="5367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22:05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7827264" y="5458968"/>
            <a:ext cx="109728" cy="109728"/>
          </a:xfrm>
          <a:prstGeom prst="rect">
            <a:avLst/>
          </a:prstGeom>
          <a:solidFill>
            <a:srgbClr val="4FD9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8065008" y="536752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On-device, lightweight, reproducible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350008"/>
            <a:ext cx="658368" cy="658368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76" y="2521184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5468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63016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 body-pose landmarks on CPU.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11296" y="2057400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785616" y="2350008"/>
            <a:ext cx="658368" cy="658368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792" y="2521184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85616" y="315468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785616" y="363016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sampling, cropping and the replay.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82512" y="2057400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656832" y="2350008"/>
            <a:ext cx="658368" cy="658368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008" y="2521184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56832" y="315468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656832" y="363016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officiating console.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253728" y="2057400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528048" y="2350008"/>
            <a:ext cx="658368" cy="658368"/>
          </a:xfrm>
          <a:prstGeom prst="ellipse">
            <a:avLst/>
          </a:prstGeom>
          <a:solidFill>
            <a:srgbClr val="0E2E34"/>
          </a:solidFill>
          <a:ln w="15875">
            <a:solidFill>
              <a:srgbClr val="4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9224" y="2521184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28048" y="315468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528048" y="363016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 scoring engine, no heavy deps.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61772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" y="489204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4617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MB pose model</a:t>
            </a:r>
            <a:r>
              <a:rPr lang="en-US" sz="14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downloads once on first run.  No ffmpeg. No GPU. No external model APIs.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50" dirty="0">
                <a:solidFill>
                  <a:srgbClr val="4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623560" cy="1234440"/>
          </a:xfrm>
          <a:prstGeom prst="roundRect">
            <a:avLst>
              <a:gd name="adj" fmla="val 7407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331720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5448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github.com/wenjun78/FIFA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5623560" cy="1234440"/>
          </a:xfrm>
          <a:prstGeom prst="roundRect">
            <a:avLst>
              <a:gd name="adj" fmla="val 7407"/>
            </a:avLst>
          </a:prstGeom>
          <a:solidFill>
            <a:srgbClr val="14201F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74904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page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554480" y="3813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wenjun78.github.io/FIFA/RefVision/docs/index.html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537960" y="1920240"/>
            <a:ext cx="4983480" cy="3566160"/>
          </a:xfrm>
          <a:prstGeom prst="roundRect">
            <a:avLst>
              <a:gd name="adj" fmla="val 2564"/>
            </a:avLst>
          </a:prstGeom>
          <a:solidFill>
            <a:srgbClr val="05100C"/>
          </a:solidFill>
          <a:ln w="12700">
            <a:solidFill>
              <a:srgbClr val="2B3B3F"/>
            </a:solidFill>
            <a:prstDash val="solid"/>
          </a:ln>
          <a:effectLst>
            <a:outerShdw blurRad="127000" dist="38100" dir="54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793992" y="2157984"/>
            <a:ext cx="137160" cy="137160"/>
          </a:xfrm>
          <a:prstGeom prst="ellipse">
            <a:avLst/>
          </a:prstGeom>
          <a:solidFill>
            <a:srgbClr val="FF4D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995160" y="2157984"/>
            <a:ext cx="137160" cy="137160"/>
          </a:xfrm>
          <a:prstGeom prst="ellipse">
            <a:avLst/>
          </a:prstGeom>
          <a:solidFill>
            <a:srgbClr val="FFC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96328" y="2157984"/>
            <a:ext cx="137160" cy="137160"/>
          </a:xfrm>
          <a:prstGeom prst="ellipse">
            <a:avLst/>
          </a:prstGeom>
          <a:solidFill>
            <a:srgbClr val="46D1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45236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812280" y="2606040"/>
            <a:ext cx="4434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2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https://github.com/wenjun78/FIFA.git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2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FIFA/RefVision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2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-r requirements.txt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streamlit run app.py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opens at http://localhost:8501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008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7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· pose model downloads on first run · pre-screen a clip with check_clip.py.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208" y="13716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official makes the call.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371600" y="3639312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RefVision marks, measures and compares — decision-support for football officiating.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09848" y="461772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18262A"/>
          </a:solidFill>
          <a:ln w="12700">
            <a:solidFill>
              <a:srgbClr val="2B3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9304" y="472744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9848" y="4617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F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github.com/wenjun78/FIFA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200" dirty="0">
                <a:solidFill>
                  <a:srgbClr val="5E7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FIFA AI Innovation Showcase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Microsoft Office PowerPoint</Application>
  <PresentationFormat>Widescreen</PresentationFormat>
  <Paragraphs>161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RefVision — Officiating Console</dc:title>
  <dc:subject>PptxGenJS Presentation</dc:subject>
  <dc:creator>wenjun78</dc:creator>
  <cp:lastModifiedBy>Lau WenJun | 刘文俊</cp:lastModifiedBy>
  <cp:revision>2</cp:revision>
  <dcterms:created xsi:type="dcterms:W3CDTF">2026-07-02T02:37:38Z</dcterms:created>
  <dcterms:modified xsi:type="dcterms:W3CDTF">2026-07-02T02:42:48Z</dcterms:modified>
</cp:coreProperties>
</file>